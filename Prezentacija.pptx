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handoutMasterIdLst>
    <p:handoutMasterId r:id="rId22"/>
  </p:handoutMasterIdLst>
  <p:sldIdLst>
    <p:sldId id="312" r:id="rId5"/>
    <p:sldId id="304" r:id="rId6"/>
    <p:sldId id="282" r:id="rId7"/>
    <p:sldId id="326" r:id="rId8"/>
    <p:sldId id="328" r:id="rId9"/>
    <p:sldId id="322" r:id="rId10"/>
    <p:sldId id="319" r:id="rId11"/>
    <p:sldId id="323" r:id="rId12"/>
    <p:sldId id="307" r:id="rId13"/>
    <p:sldId id="324" r:id="rId14"/>
    <p:sldId id="321" r:id="rId15"/>
    <p:sldId id="325" r:id="rId16"/>
    <p:sldId id="314" r:id="rId17"/>
    <p:sldId id="297" r:id="rId18"/>
    <p:sldId id="315" r:id="rId19"/>
    <p:sldId id="327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F5CDCE"/>
    <a:srgbClr val="DF8C8C"/>
    <a:srgbClr val="AAC4E9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5388" autoAdjust="0"/>
  </p:normalViewPr>
  <p:slideViewPr>
    <p:cSldViewPr snapToGrid="0" snapToObjects="1">
      <p:cViewPr varScale="1">
        <p:scale>
          <a:sx n="92" d="100"/>
          <a:sy n="92" d="100"/>
        </p:scale>
        <p:origin x="151" y="55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5D97F-C564-4EF4-9F18-23A22CD6F5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CD0341-80C8-4214-B686-BE33816579E9}">
      <dgm:prSet phldrT="[Text]" phldr="0" custT="1"/>
      <dgm:spPr/>
      <dgm:t>
        <a:bodyPr/>
        <a:lstStyle/>
        <a:p>
          <a:r>
            <a:rPr lang="hr-HR" sz="2000" noProof="0" dirty="0">
              <a:solidFill>
                <a:schemeClr val="tx1"/>
              </a:solidFill>
            </a:rPr>
            <a:t>Autentifikacija i korisničke usluge</a:t>
          </a:r>
        </a:p>
      </dgm:t>
    </dgm:pt>
    <dgm:pt modelId="{E55191CF-737A-4939-9A3C-67D28A35B99D}" type="parTrans" cxnId="{85FB736A-EC8E-4B14-8D35-85A9B7D607DA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A3C2ABA1-184C-4007-9169-32568BC4F8CE}" type="sibTrans" cxnId="{85FB736A-EC8E-4B14-8D35-85A9B7D607DA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0B275B30-9DD4-4F11-A88C-442987C69D25}">
      <dgm:prSet phldrT="[Text]" phldr="0" custT="1"/>
      <dgm:spPr/>
      <dgm:t>
        <a:bodyPr/>
        <a:lstStyle/>
        <a:p>
          <a:r>
            <a:rPr lang="hr-HR" sz="2000" noProof="0" dirty="0">
              <a:solidFill>
                <a:schemeClr val="tx1"/>
              </a:solidFill>
            </a:rPr>
            <a:t>Upravljanje </a:t>
          </a:r>
          <a:r>
            <a:rPr lang="hr-HR" sz="2000" noProof="0" dirty="0" err="1">
              <a:solidFill>
                <a:schemeClr val="tx1"/>
              </a:solidFill>
            </a:rPr>
            <a:t>Escape</a:t>
          </a:r>
          <a:r>
            <a:rPr lang="hr-HR" sz="2000" noProof="0" dirty="0">
              <a:solidFill>
                <a:schemeClr val="tx1"/>
              </a:solidFill>
            </a:rPr>
            <a:t> </a:t>
          </a:r>
          <a:r>
            <a:rPr lang="hr-HR" sz="2000" noProof="0" dirty="0" err="1">
              <a:solidFill>
                <a:schemeClr val="tx1"/>
              </a:solidFill>
            </a:rPr>
            <a:t>Roomovima</a:t>
          </a:r>
          <a:r>
            <a:rPr lang="hr-HR" sz="2000" noProof="0" dirty="0">
              <a:solidFill>
                <a:schemeClr val="tx1"/>
              </a:solidFill>
            </a:rPr>
            <a:t> i terminima</a:t>
          </a:r>
        </a:p>
      </dgm:t>
    </dgm:pt>
    <dgm:pt modelId="{108F7D06-D784-4E86-80CA-441359D1B5F2}" type="parTrans" cxnId="{0B053EDD-7A85-48A1-AADC-8C100C2B3498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351538D0-31B0-4BAC-B4F4-32F8E226F80E}" type="sibTrans" cxnId="{0B053EDD-7A85-48A1-AADC-8C100C2B3498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BA597009-2F56-4461-8B37-52C170899F34}">
      <dgm:prSet phldrT="[Text]" phldr="0" custT="1"/>
      <dgm:spPr/>
      <dgm:t>
        <a:bodyPr/>
        <a:lstStyle/>
        <a:p>
          <a:r>
            <a:rPr lang="hr-HR" sz="2000" noProof="0" dirty="0">
              <a:solidFill>
                <a:schemeClr val="tx1"/>
              </a:solidFill>
            </a:rPr>
            <a:t>Rezervacija i online plaćanje</a:t>
          </a:r>
        </a:p>
      </dgm:t>
    </dgm:pt>
    <dgm:pt modelId="{5F72E45E-1C96-417F-A63F-D4CA3C4138D7}" type="parTrans" cxnId="{6EFB3F09-38D3-494E-AB06-83C8EDB3FB1B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195A0FE5-D1AD-4D84-B11F-755E9666561C}" type="sibTrans" cxnId="{6EFB3F09-38D3-494E-AB06-83C8EDB3FB1B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74DDA781-F107-4CEF-AE1B-71A9902B995A}">
      <dgm:prSet phldrT="[Text]" phldr="0" custT="1"/>
      <dgm:spPr/>
      <dgm:t>
        <a:bodyPr/>
        <a:lstStyle/>
        <a:p>
          <a:r>
            <a:rPr lang="hr-HR" sz="2000" noProof="0" dirty="0">
              <a:solidFill>
                <a:schemeClr val="tx1"/>
              </a:solidFill>
            </a:rPr>
            <a:t>Unos rezultata i rangiranje timova</a:t>
          </a:r>
        </a:p>
      </dgm:t>
    </dgm:pt>
    <dgm:pt modelId="{8331A966-6701-4754-A301-EED82D51F1BE}" type="parTrans" cxnId="{3B4E1BF9-6C79-4A0C-91FA-F051E5303B25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0D0BD693-3511-4B87-8631-EDB3F9377BE0}" type="sibTrans" cxnId="{3B4E1BF9-6C79-4A0C-91FA-F051E5303B25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2BD2FB80-07F5-4ACB-BF05-6E7C924F4C85}">
      <dgm:prSet phldrT="[Text]" phldr="0" custT="1"/>
      <dgm:spPr/>
      <dgm:t>
        <a:bodyPr/>
        <a:lstStyle/>
        <a:p>
          <a:r>
            <a:rPr lang="hr-HR" sz="2000" noProof="0" dirty="0">
              <a:solidFill>
                <a:schemeClr val="tx1"/>
              </a:solidFill>
            </a:rPr>
            <a:t>Dinamičko izračunavanje težine soba</a:t>
          </a:r>
        </a:p>
      </dgm:t>
    </dgm:pt>
    <dgm:pt modelId="{0E01C118-E94A-4223-A720-3C7B1782FEB0}" type="parTrans" cxnId="{0A726070-AD9E-4A42-8B6F-8AB8EA2C6769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B70BFD32-FA0D-4D93-9C13-C2C7641B9FD4}" type="sibTrans" cxnId="{0A726070-AD9E-4A42-8B6F-8AB8EA2C6769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EACACEA5-9FCD-4E67-922D-B45F34DB693E}" type="pres">
      <dgm:prSet presAssocID="{5C75D97F-C564-4EF4-9F18-23A22CD6F50B}" presName="linear" presStyleCnt="0">
        <dgm:presLayoutVars>
          <dgm:animLvl val="lvl"/>
          <dgm:resizeHandles val="exact"/>
        </dgm:presLayoutVars>
      </dgm:prSet>
      <dgm:spPr/>
    </dgm:pt>
    <dgm:pt modelId="{FA355523-2DBE-4993-99F2-563761B528B9}" type="pres">
      <dgm:prSet presAssocID="{4FCD0341-80C8-4214-B686-BE33816579E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5816063-D540-4188-B8E2-DC7F0EF1DF83}" type="pres">
      <dgm:prSet presAssocID="{A3C2ABA1-184C-4007-9169-32568BC4F8CE}" presName="spacer" presStyleCnt="0"/>
      <dgm:spPr/>
    </dgm:pt>
    <dgm:pt modelId="{896202DD-4208-43E2-858A-CD353E258355}" type="pres">
      <dgm:prSet presAssocID="{0B275B30-9DD4-4F11-A88C-442987C69D2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D7FE00E-9F56-4396-89AA-EB3CE8DC4BE2}" type="pres">
      <dgm:prSet presAssocID="{351538D0-31B0-4BAC-B4F4-32F8E226F80E}" presName="spacer" presStyleCnt="0"/>
      <dgm:spPr/>
    </dgm:pt>
    <dgm:pt modelId="{ECCE3C7A-7539-4ACE-81E1-A3A5623DE9D4}" type="pres">
      <dgm:prSet presAssocID="{BA597009-2F56-4461-8B37-52C170899F3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1C01FA5-93EF-4B56-9687-043F7352F7B2}" type="pres">
      <dgm:prSet presAssocID="{195A0FE5-D1AD-4D84-B11F-755E9666561C}" presName="spacer" presStyleCnt="0"/>
      <dgm:spPr/>
    </dgm:pt>
    <dgm:pt modelId="{0F29BE04-1AFB-49C8-8BD2-4CB3FF98FBC6}" type="pres">
      <dgm:prSet presAssocID="{74DDA781-F107-4CEF-AE1B-71A9902B995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B7C39FA-70DD-43C3-B9BD-E4E8433EBDEC}" type="pres">
      <dgm:prSet presAssocID="{0D0BD693-3511-4B87-8631-EDB3F9377BE0}" presName="spacer" presStyleCnt="0"/>
      <dgm:spPr/>
    </dgm:pt>
    <dgm:pt modelId="{93C8E460-EEB3-46C2-9885-627282257C49}" type="pres">
      <dgm:prSet presAssocID="{2BD2FB80-07F5-4ACB-BF05-6E7C924F4C8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EFB3F09-38D3-494E-AB06-83C8EDB3FB1B}" srcId="{5C75D97F-C564-4EF4-9F18-23A22CD6F50B}" destId="{BA597009-2F56-4461-8B37-52C170899F34}" srcOrd="2" destOrd="0" parTransId="{5F72E45E-1C96-417F-A63F-D4CA3C4138D7}" sibTransId="{195A0FE5-D1AD-4D84-B11F-755E9666561C}"/>
    <dgm:cxn modelId="{4FF08634-121A-4285-8C26-A89D8C9F6445}" type="presOf" srcId="{2BD2FB80-07F5-4ACB-BF05-6E7C924F4C85}" destId="{93C8E460-EEB3-46C2-9885-627282257C49}" srcOrd="0" destOrd="0" presId="urn:microsoft.com/office/officeart/2005/8/layout/vList2"/>
    <dgm:cxn modelId="{A0677F35-EADB-408B-8914-4299452A2B9F}" type="presOf" srcId="{4FCD0341-80C8-4214-B686-BE33816579E9}" destId="{FA355523-2DBE-4993-99F2-563761B528B9}" srcOrd="0" destOrd="0" presId="urn:microsoft.com/office/officeart/2005/8/layout/vList2"/>
    <dgm:cxn modelId="{85FB736A-EC8E-4B14-8D35-85A9B7D607DA}" srcId="{5C75D97F-C564-4EF4-9F18-23A22CD6F50B}" destId="{4FCD0341-80C8-4214-B686-BE33816579E9}" srcOrd="0" destOrd="0" parTransId="{E55191CF-737A-4939-9A3C-67D28A35B99D}" sibTransId="{A3C2ABA1-184C-4007-9169-32568BC4F8CE}"/>
    <dgm:cxn modelId="{0A726070-AD9E-4A42-8B6F-8AB8EA2C6769}" srcId="{5C75D97F-C564-4EF4-9F18-23A22CD6F50B}" destId="{2BD2FB80-07F5-4ACB-BF05-6E7C924F4C85}" srcOrd="4" destOrd="0" parTransId="{0E01C118-E94A-4223-A720-3C7B1782FEB0}" sibTransId="{B70BFD32-FA0D-4D93-9C13-C2C7641B9FD4}"/>
    <dgm:cxn modelId="{F6951282-4A99-4D9B-A9DD-C9FDAD77C559}" type="presOf" srcId="{BA597009-2F56-4461-8B37-52C170899F34}" destId="{ECCE3C7A-7539-4ACE-81E1-A3A5623DE9D4}" srcOrd="0" destOrd="0" presId="urn:microsoft.com/office/officeart/2005/8/layout/vList2"/>
    <dgm:cxn modelId="{3584858B-DB37-4E64-B03A-221C80152E8A}" type="presOf" srcId="{0B275B30-9DD4-4F11-A88C-442987C69D25}" destId="{896202DD-4208-43E2-858A-CD353E258355}" srcOrd="0" destOrd="0" presId="urn:microsoft.com/office/officeart/2005/8/layout/vList2"/>
    <dgm:cxn modelId="{0B053EDD-7A85-48A1-AADC-8C100C2B3498}" srcId="{5C75D97F-C564-4EF4-9F18-23A22CD6F50B}" destId="{0B275B30-9DD4-4F11-A88C-442987C69D25}" srcOrd="1" destOrd="0" parTransId="{108F7D06-D784-4E86-80CA-441359D1B5F2}" sibTransId="{351538D0-31B0-4BAC-B4F4-32F8E226F80E}"/>
    <dgm:cxn modelId="{AF18FEEC-D107-48B6-95D6-7112AF3E9D5C}" type="presOf" srcId="{5C75D97F-C564-4EF4-9F18-23A22CD6F50B}" destId="{EACACEA5-9FCD-4E67-922D-B45F34DB693E}" srcOrd="0" destOrd="0" presId="urn:microsoft.com/office/officeart/2005/8/layout/vList2"/>
    <dgm:cxn modelId="{892C92F0-0F6B-4CA3-B6B4-6BAF2D5C9E7F}" type="presOf" srcId="{74DDA781-F107-4CEF-AE1B-71A9902B995A}" destId="{0F29BE04-1AFB-49C8-8BD2-4CB3FF98FBC6}" srcOrd="0" destOrd="0" presId="urn:microsoft.com/office/officeart/2005/8/layout/vList2"/>
    <dgm:cxn modelId="{3B4E1BF9-6C79-4A0C-91FA-F051E5303B25}" srcId="{5C75D97F-C564-4EF4-9F18-23A22CD6F50B}" destId="{74DDA781-F107-4CEF-AE1B-71A9902B995A}" srcOrd="3" destOrd="0" parTransId="{8331A966-6701-4754-A301-EED82D51F1BE}" sibTransId="{0D0BD693-3511-4B87-8631-EDB3F9377BE0}"/>
    <dgm:cxn modelId="{B43F9C74-0FC1-4A3D-BC52-61463B7A817E}" type="presParOf" srcId="{EACACEA5-9FCD-4E67-922D-B45F34DB693E}" destId="{FA355523-2DBE-4993-99F2-563761B528B9}" srcOrd="0" destOrd="0" presId="urn:microsoft.com/office/officeart/2005/8/layout/vList2"/>
    <dgm:cxn modelId="{AF3548EA-9F7D-4336-9414-32FB79F7EC59}" type="presParOf" srcId="{EACACEA5-9FCD-4E67-922D-B45F34DB693E}" destId="{D5816063-D540-4188-B8E2-DC7F0EF1DF83}" srcOrd="1" destOrd="0" presId="urn:microsoft.com/office/officeart/2005/8/layout/vList2"/>
    <dgm:cxn modelId="{2D617C8F-CF36-4BDB-B19A-BE6F13E2F2DF}" type="presParOf" srcId="{EACACEA5-9FCD-4E67-922D-B45F34DB693E}" destId="{896202DD-4208-43E2-858A-CD353E258355}" srcOrd="2" destOrd="0" presId="urn:microsoft.com/office/officeart/2005/8/layout/vList2"/>
    <dgm:cxn modelId="{E011A86F-A9C4-4962-A6C6-AAD180EB6560}" type="presParOf" srcId="{EACACEA5-9FCD-4E67-922D-B45F34DB693E}" destId="{FD7FE00E-9F56-4396-89AA-EB3CE8DC4BE2}" srcOrd="3" destOrd="0" presId="urn:microsoft.com/office/officeart/2005/8/layout/vList2"/>
    <dgm:cxn modelId="{FE1CDF45-F8E5-4654-BF59-EF55473170B8}" type="presParOf" srcId="{EACACEA5-9FCD-4E67-922D-B45F34DB693E}" destId="{ECCE3C7A-7539-4ACE-81E1-A3A5623DE9D4}" srcOrd="4" destOrd="0" presId="urn:microsoft.com/office/officeart/2005/8/layout/vList2"/>
    <dgm:cxn modelId="{AC187A7C-FB99-4998-BA03-BB6491EC06B1}" type="presParOf" srcId="{EACACEA5-9FCD-4E67-922D-B45F34DB693E}" destId="{F1C01FA5-93EF-4B56-9687-043F7352F7B2}" srcOrd="5" destOrd="0" presId="urn:microsoft.com/office/officeart/2005/8/layout/vList2"/>
    <dgm:cxn modelId="{7A77BDC7-CF03-47F6-9D09-26DC58B67F41}" type="presParOf" srcId="{EACACEA5-9FCD-4E67-922D-B45F34DB693E}" destId="{0F29BE04-1AFB-49C8-8BD2-4CB3FF98FBC6}" srcOrd="6" destOrd="0" presId="urn:microsoft.com/office/officeart/2005/8/layout/vList2"/>
    <dgm:cxn modelId="{DF16DB70-221B-457D-BE06-3AB1EAAEEC29}" type="presParOf" srcId="{EACACEA5-9FCD-4E67-922D-B45F34DB693E}" destId="{8B7C39FA-70DD-43C3-B9BD-E4E8433EBDEC}" srcOrd="7" destOrd="0" presId="urn:microsoft.com/office/officeart/2005/8/layout/vList2"/>
    <dgm:cxn modelId="{A2525EAC-1C82-46B3-BCA4-3B7D56C193DE}" type="presParOf" srcId="{EACACEA5-9FCD-4E67-922D-B45F34DB693E}" destId="{93C8E460-EEB3-46C2-9885-627282257C4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75D97F-C564-4EF4-9F18-23A22CD6F50B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FCD0341-80C8-4214-B686-BE33816579E9}">
      <dgm:prSet phldrT="[Text]" phldr="0" custT="1"/>
      <dgm:spPr/>
      <dgm:t>
        <a:bodyPr/>
        <a:lstStyle/>
        <a:p>
          <a:r>
            <a:rPr lang="hr-HR" sz="2000" noProof="0" dirty="0"/>
            <a:t>Sigurnost i privatnost korisnika</a:t>
          </a:r>
        </a:p>
      </dgm:t>
    </dgm:pt>
    <dgm:pt modelId="{E55191CF-737A-4939-9A3C-67D28A35B99D}" type="parTrans" cxnId="{85FB736A-EC8E-4B14-8D35-85A9B7D607DA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A3C2ABA1-184C-4007-9169-32568BC4F8CE}" type="sibTrans" cxnId="{85FB736A-EC8E-4B14-8D35-85A9B7D607DA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0B275B30-9DD4-4F11-A88C-442987C69D25}">
      <dgm:prSet phldrT="[Text]" phldr="0" custT="1"/>
      <dgm:spPr/>
      <dgm:t>
        <a:bodyPr/>
        <a:lstStyle/>
        <a:p>
          <a:r>
            <a:rPr lang="hr-HR" sz="2000" noProof="0" dirty="0"/>
            <a:t>Brz odziv i dostupnost sustava</a:t>
          </a:r>
        </a:p>
      </dgm:t>
    </dgm:pt>
    <dgm:pt modelId="{108F7D06-D784-4E86-80CA-441359D1B5F2}" type="parTrans" cxnId="{0B053EDD-7A85-48A1-AADC-8C100C2B3498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351538D0-31B0-4BAC-B4F4-32F8E226F80E}" type="sibTrans" cxnId="{0B053EDD-7A85-48A1-AADC-8C100C2B3498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BA597009-2F56-4461-8B37-52C170899F34}">
      <dgm:prSet phldrT="[Text]" phldr="0" custT="1"/>
      <dgm:spPr/>
      <dgm:t>
        <a:bodyPr/>
        <a:lstStyle/>
        <a:p>
          <a:r>
            <a:rPr lang="hr-HR" sz="2000" noProof="0" dirty="0" err="1"/>
            <a:t>Responzivno</a:t>
          </a:r>
          <a:r>
            <a:rPr lang="hr-HR" sz="2000" noProof="0" dirty="0"/>
            <a:t> korisničko sučelje</a:t>
          </a:r>
        </a:p>
      </dgm:t>
    </dgm:pt>
    <dgm:pt modelId="{5F72E45E-1C96-417F-A63F-D4CA3C4138D7}" type="parTrans" cxnId="{6EFB3F09-38D3-494E-AB06-83C8EDB3FB1B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195A0FE5-D1AD-4D84-B11F-755E9666561C}" type="sibTrans" cxnId="{6EFB3F09-38D3-494E-AB06-83C8EDB3FB1B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74DDA781-F107-4CEF-AE1B-71A9902B995A}">
      <dgm:prSet phldrT="[Text]" phldr="0" custT="1"/>
      <dgm:spPr/>
      <dgm:t>
        <a:bodyPr/>
        <a:lstStyle/>
        <a:p>
          <a:r>
            <a:rPr lang="hr-HR" sz="2000" noProof="0" dirty="0"/>
            <a:t>Skalabilnost i dokumentiranost </a:t>
          </a:r>
        </a:p>
      </dgm:t>
    </dgm:pt>
    <dgm:pt modelId="{8331A966-6701-4754-A301-EED82D51F1BE}" type="parTrans" cxnId="{3B4E1BF9-6C79-4A0C-91FA-F051E5303B25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0D0BD693-3511-4B87-8631-EDB3F9377BE0}" type="sibTrans" cxnId="{3B4E1BF9-6C79-4A0C-91FA-F051E5303B25}">
      <dgm:prSet/>
      <dgm:spPr/>
      <dgm:t>
        <a:bodyPr/>
        <a:lstStyle/>
        <a:p>
          <a:endParaRPr lang="en-US" sz="2000">
            <a:solidFill>
              <a:schemeClr val="tx1"/>
            </a:solidFill>
          </a:endParaRPr>
        </a:p>
      </dgm:t>
    </dgm:pt>
    <dgm:pt modelId="{EACACEA5-9FCD-4E67-922D-B45F34DB693E}" type="pres">
      <dgm:prSet presAssocID="{5C75D97F-C564-4EF4-9F18-23A22CD6F50B}" presName="linear" presStyleCnt="0">
        <dgm:presLayoutVars>
          <dgm:animLvl val="lvl"/>
          <dgm:resizeHandles val="exact"/>
        </dgm:presLayoutVars>
      </dgm:prSet>
      <dgm:spPr/>
    </dgm:pt>
    <dgm:pt modelId="{FA355523-2DBE-4993-99F2-563761B528B9}" type="pres">
      <dgm:prSet presAssocID="{4FCD0341-80C8-4214-B686-BE33816579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816063-D540-4188-B8E2-DC7F0EF1DF83}" type="pres">
      <dgm:prSet presAssocID="{A3C2ABA1-184C-4007-9169-32568BC4F8CE}" presName="spacer" presStyleCnt="0"/>
      <dgm:spPr/>
    </dgm:pt>
    <dgm:pt modelId="{896202DD-4208-43E2-858A-CD353E258355}" type="pres">
      <dgm:prSet presAssocID="{0B275B30-9DD4-4F11-A88C-442987C69D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7FE00E-9F56-4396-89AA-EB3CE8DC4BE2}" type="pres">
      <dgm:prSet presAssocID="{351538D0-31B0-4BAC-B4F4-32F8E226F80E}" presName="spacer" presStyleCnt="0"/>
      <dgm:spPr/>
    </dgm:pt>
    <dgm:pt modelId="{ECCE3C7A-7539-4ACE-81E1-A3A5623DE9D4}" type="pres">
      <dgm:prSet presAssocID="{BA597009-2F56-4461-8B37-52C170899F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C01FA5-93EF-4B56-9687-043F7352F7B2}" type="pres">
      <dgm:prSet presAssocID="{195A0FE5-D1AD-4D84-B11F-755E9666561C}" presName="spacer" presStyleCnt="0"/>
      <dgm:spPr/>
    </dgm:pt>
    <dgm:pt modelId="{0F29BE04-1AFB-49C8-8BD2-4CB3FF98FBC6}" type="pres">
      <dgm:prSet presAssocID="{74DDA781-F107-4CEF-AE1B-71A9902B99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FB3F09-38D3-494E-AB06-83C8EDB3FB1B}" srcId="{5C75D97F-C564-4EF4-9F18-23A22CD6F50B}" destId="{BA597009-2F56-4461-8B37-52C170899F34}" srcOrd="2" destOrd="0" parTransId="{5F72E45E-1C96-417F-A63F-D4CA3C4138D7}" sibTransId="{195A0FE5-D1AD-4D84-B11F-755E9666561C}"/>
    <dgm:cxn modelId="{A0677F35-EADB-408B-8914-4299452A2B9F}" type="presOf" srcId="{4FCD0341-80C8-4214-B686-BE33816579E9}" destId="{FA355523-2DBE-4993-99F2-563761B528B9}" srcOrd="0" destOrd="0" presId="urn:microsoft.com/office/officeart/2005/8/layout/vList2"/>
    <dgm:cxn modelId="{85FB736A-EC8E-4B14-8D35-85A9B7D607DA}" srcId="{5C75D97F-C564-4EF4-9F18-23A22CD6F50B}" destId="{4FCD0341-80C8-4214-B686-BE33816579E9}" srcOrd="0" destOrd="0" parTransId="{E55191CF-737A-4939-9A3C-67D28A35B99D}" sibTransId="{A3C2ABA1-184C-4007-9169-32568BC4F8CE}"/>
    <dgm:cxn modelId="{F6951282-4A99-4D9B-A9DD-C9FDAD77C559}" type="presOf" srcId="{BA597009-2F56-4461-8B37-52C170899F34}" destId="{ECCE3C7A-7539-4ACE-81E1-A3A5623DE9D4}" srcOrd="0" destOrd="0" presId="urn:microsoft.com/office/officeart/2005/8/layout/vList2"/>
    <dgm:cxn modelId="{3584858B-DB37-4E64-B03A-221C80152E8A}" type="presOf" srcId="{0B275B30-9DD4-4F11-A88C-442987C69D25}" destId="{896202DD-4208-43E2-858A-CD353E258355}" srcOrd="0" destOrd="0" presId="urn:microsoft.com/office/officeart/2005/8/layout/vList2"/>
    <dgm:cxn modelId="{0B053EDD-7A85-48A1-AADC-8C100C2B3498}" srcId="{5C75D97F-C564-4EF4-9F18-23A22CD6F50B}" destId="{0B275B30-9DD4-4F11-A88C-442987C69D25}" srcOrd="1" destOrd="0" parTransId="{108F7D06-D784-4E86-80CA-441359D1B5F2}" sibTransId="{351538D0-31B0-4BAC-B4F4-32F8E226F80E}"/>
    <dgm:cxn modelId="{AF18FEEC-D107-48B6-95D6-7112AF3E9D5C}" type="presOf" srcId="{5C75D97F-C564-4EF4-9F18-23A22CD6F50B}" destId="{EACACEA5-9FCD-4E67-922D-B45F34DB693E}" srcOrd="0" destOrd="0" presId="urn:microsoft.com/office/officeart/2005/8/layout/vList2"/>
    <dgm:cxn modelId="{892C92F0-0F6B-4CA3-B6B4-6BAF2D5C9E7F}" type="presOf" srcId="{74DDA781-F107-4CEF-AE1B-71A9902B995A}" destId="{0F29BE04-1AFB-49C8-8BD2-4CB3FF98FBC6}" srcOrd="0" destOrd="0" presId="urn:microsoft.com/office/officeart/2005/8/layout/vList2"/>
    <dgm:cxn modelId="{3B4E1BF9-6C79-4A0C-91FA-F051E5303B25}" srcId="{5C75D97F-C564-4EF4-9F18-23A22CD6F50B}" destId="{74DDA781-F107-4CEF-AE1B-71A9902B995A}" srcOrd="3" destOrd="0" parTransId="{8331A966-6701-4754-A301-EED82D51F1BE}" sibTransId="{0D0BD693-3511-4B87-8631-EDB3F9377BE0}"/>
    <dgm:cxn modelId="{B43F9C74-0FC1-4A3D-BC52-61463B7A817E}" type="presParOf" srcId="{EACACEA5-9FCD-4E67-922D-B45F34DB693E}" destId="{FA355523-2DBE-4993-99F2-563761B528B9}" srcOrd="0" destOrd="0" presId="urn:microsoft.com/office/officeart/2005/8/layout/vList2"/>
    <dgm:cxn modelId="{AF3548EA-9F7D-4336-9414-32FB79F7EC59}" type="presParOf" srcId="{EACACEA5-9FCD-4E67-922D-B45F34DB693E}" destId="{D5816063-D540-4188-B8E2-DC7F0EF1DF83}" srcOrd="1" destOrd="0" presId="urn:microsoft.com/office/officeart/2005/8/layout/vList2"/>
    <dgm:cxn modelId="{2D617C8F-CF36-4BDB-B19A-BE6F13E2F2DF}" type="presParOf" srcId="{EACACEA5-9FCD-4E67-922D-B45F34DB693E}" destId="{896202DD-4208-43E2-858A-CD353E258355}" srcOrd="2" destOrd="0" presId="urn:microsoft.com/office/officeart/2005/8/layout/vList2"/>
    <dgm:cxn modelId="{E011A86F-A9C4-4962-A6C6-AAD180EB6560}" type="presParOf" srcId="{EACACEA5-9FCD-4E67-922D-B45F34DB693E}" destId="{FD7FE00E-9F56-4396-89AA-EB3CE8DC4BE2}" srcOrd="3" destOrd="0" presId="urn:microsoft.com/office/officeart/2005/8/layout/vList2"/>
    <dgm:cxn modelId="{FE1CDF45-F8E5-4654-BF59-EF55473170B8}" type="presParOf" srcId="{EACACEA5-9FCD-4E67-922D-B45F34DB693E}" destId="{ECCE3C7A-7539-4ACE-81E1-A3A5623DE9D4}" srcOrd="4" destOrd="0" presId="urn:microsoft.com/office/officeart/2005/8/layout/vList2"/>
    <dgm:cxn modelId="{AC187A7C-FB99-4998-BA03-BB6491EC06B1}" type="presParOf" srcId="{EACACEA5-9FCD-4E67-922D-B45F34DB693E}" destId="{F1C01FA5-93EF-4B56-9687-043F7352F7B2}" srcOrd="5" destOrd="0" presId="urn:microsoft.com/office/officeart/2005/8/layout/vList2"/>
    <dgm:cxn modelId="{7A77BDC7-CF03-47F6-9D09-26DC58B67F41}" type="presParOf" srcId="{EACACEA5-9FCD-4E67-922D-B45F34DB693E}" destId="{0F29BE04-1AFB-49C8-8BD2-4CB3FF98FB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55523-2DBE-4993-99F2-563761B528B9}">
      <dsp:nvSpPr>
        <dsp:cNvPr id="0" name=""/>
        <dsp:cNvSpPr/>
      </dsp:nvSpPr>
      <dsp:spPr>
        <a:xfrm>
          <a:off x="0" y="18973"/>
          <a:ext cx="831088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>
              <a:solidFill>
                <a:schemeClr val="tx1"/>
              </a:solidFill>
            </a:rPr>
            <a:t>Autentifikacija i korisničke usluge</a:t>
          </a:r>
        </a:p>
      </dsp:txBody>
      <dsp:txXfrm>
        <a:off x="31984" y="50957"/>
        <a:ext cx="8246912" cy="591232"/>
      </dsp:txXfrm>
    </dsp:sp>
    <dsp:sp modelId="{896202DD-4208-43E2-858A-CD353E258355}">
      <dsp:nvSpPr>
        <dsp:cNvPr id="0" name=""/>
        <dsp:cNvSpPr/>
      </dsp:nvSpPr>
      <dsp:spPr>
        <a:xfrm>
          <a:off x="0" y="774973"/>
          <a:ext cx="831088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>
              <a:solidFill>
                <a:schemeClr val="tx1"/>
              </a:solidFill>
            </a:rPr>
            <a:t>Upravljanje </a:t>
          </a:r>
          <a:r>
            <a:rPr lang="hr-HR" sz="2000" kern="1200" noProof="0" dirty="0" err="1">
              <a:solidFill>
                <a:schemeClr val="tx1"/>
              </a:solidFill>
            </a:rPr>
            <a:t>Escape</a:t>
          </a:r>
          <a:r>
            <a:rPr lang="hr-HR" sz="2000" kern="1200" noProof="0" dirty="0">
              <a:solidFill>
                <a:schemeClr val="tx1"/>
              </a:solidFill>
            </a:rPr>
            <a:t> </a:t>
          </a:r>
          <a:r>
            <a:rPr lang="hr-HR" sz="2000" kern="1200" noProof="0" dirty="0" err="1">
              <a:solidFill>
                <a:schemeClr val="tx1"/>
              </a:solidFill>
            </a:rPr>
            <a:t>Roomovima</a:t>
          </a:r>
          <a:r>
            <a:rPr lang="hr-HR" sz="2000" kern="1200" noProof="0" dirty="0">
              <a:solidFill>
                <a:schemeClr val="tx1"/>
              </a:solidFill>
            </a:rPr>
            <a:t> i terminima</a:t>
          </a:r>
        </a:p>
      </dsp:txBody>
      <dsp:txXfrm>
        <a:off x="31984" y="806957"/>
        <a:ext cx="8246912" cy="591232"/>
      </dsp:txXfrm>
    </dsp:sp>
    <dsp:sp modelId="{ECCE3C7A-7539-4ACE-81E1-A3A5623DE9D4}">
      <dsp:nvSpPr>
        <dsp:cNvPr id="0" name=""/>
        <dsp:cNvSpPr/>
      </dsp:nvSpPr>
      <dsp:spPr>
        <a:xfrm>
          <a:off x="0" y="1530973"/>
          <a:ext cx="831088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>
              <a:solidFill>
                <a:schemeClr val="tx1"/>
              </a:solidFill>
            </a:rPr>
            <a:t>Rezervacija i online plaćanje</a:t>
          </a:r>
        </a:p>
      </dsp:txBody>
      <dsp:txXfrm>
        <a:off x="31984" y="1562957"/>
        <a:ext cx="8246912" cy="591232"/>
      </dsp:txXfrm>
    </dsp:sp>
    <dsp:sp modelId="{0F29BE04-1AFB-49C8-8BD2-4CB3FF98FBC6}">
      <dsp:nvSpPr>
        <dsp:cNvPr id="0" name=""/>
        <dsp:cNvSpPr/>
      </dsp:nvSpPr>
      <dsp:spPr>
        <a:xfrm>
          <a:off x="0" y="2286973"/>
          <a:ext cx="831088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>
              <a:solidFill>
                <a:schemeClr val="tx1"/>
              </a:solidFill>
            </a:rPr>
            <a:t>Unos rezultata i rangiranje timova</a:t>
          </a:r>
        </a:p>
      </dsp:txBody>
      <dsp:txXfrm>
        <a:off x="31984" y="2318957"/>
        <a:ext cx="8246912" cy="591232"/>
      </dsp:txXfrm>
    </dsp:sp>
    <dsp:sp modelId="{93C8E460-EEB3-46C2-9885-627282257C49}">
      <dsp:nvSpPr>
        <dsp:cNvPr id="0" name=""/>
        <dsp:cNvSpPr/>
      </dsp:nvSpPr>
      <dsp:spPr>
        <a:xfrm>
          <a:off x="0" y="3042973"/>
          <a:ext cx="831088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>
              <a:solidFill>
                <a:schemeClr val="tx1"/>
              </a:solidFill>
            </a:rPr>
            <a:t>Dinamičko izračunavanje težine soba</a:t>
          </a:r>
        </a:p>
      </dsp:txBody>
      <dsp:txXfrm>
        <a:off x="31984" y="3074957"/>
        <a:ext cx="8246912" cy="591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55523-2DBE-4993-99F2-563761B528B9}">
      <dsp:nvSpPr>
        <dsp:cNvPr id="0" name=""/>
        <dsp:cNvSpPr/>
      </dsp:nvSpPr>
      <dsp:spPr>
        <a:xfrm>
          <a:off x="0" y="21133"/>
          <a:ext cx="831088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/>
            <a:t>Sigurnost i privatnost korisnika</a:t>
          </a:r>
        </a:p>
      </dsp:txBody>
      <dsp:txXfrm>
        <a:off x="40209" y="61342"/>
        <a:ext cx="8230462" cy="743262"/>
      </dsp:txXfrm>
    </dsp:sp>
    <dsp:sp modelId="{896202DD-4208-43E2-858A-CD353E258355}">
      <dsp:nvSpPr>
        <dsp:cNvPr id="0" name=""/>
        <dsp:cNvSpPr/>
      </dsp:nvSpPr>
      <dsp:spPr>
        <a:xfrm>
          <a:off x="0" y="971533"/>
          <a:ext cx="831088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/>
            <a:t>Brz odziv i dostupnost sustava</a:t>
          </a:r>
        </a:p>
      </dsp:txBody>
      <dsp:txXfrm>
        <a:off x="40209" y="1011742"/>
        <a:ext cx="8230462" cy="743262"/>
      </dsp:txXfrm>
    </dsp:sp>
    <dsp:sp modelId="{ECCE3C7A-7539-4ACE-81E1-A3A5623DE9D4}">
      <dsp:nvSpPr>
        <dsp:cNvPr id="0" name=""/>
        <dsp:cNvSpPr/>
      </dsp:nvSpPr>
      <dsp:spPr>
        <a:xfrm>
          <a:off x="0" y="1921933"/>
          <a:ext cx="831088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 err="1"/>
            <a:t>Responzivno</a:t>
          </a:r>
          <a:r>
            <a:rPr lang="hr-HR" sz="2000" kern="1200" noProof="0" dirty="0"/>
            <a:t> korisničko sučelje</a:t>
          </a:r>
        </a:p>
      </dsp:txBody>
      <dsp:txXfrm>
        <a:off x="40209" y="1962142"/>
        <a:ext cx="8230462" cy="743262"/>
      </dsp:txXfrm>
    </dsp:sp>
    <dsp:sp modelId="{0F29BE04-1AFB-49C8-8BD2-4CB3FF98FBC6}">
      <dsp:nvSpPr>
        <dsp:cNvPr id="0" name=""/>
        <dsp:cNvSpPr/>
      </dsp:nvSpPr>
      <dsp:spPr>
        <a:xfrm>
          <a:off x="0" y="2872333"/>
          <a:ext cx="831088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noProof="0" dirty="0"/>
            <a:t>Skalabilnost i dokumentiranost </a:t>
          </a:r>
        </a:p>
      </dsp:txBody>
      <dsp:txXfrm>
        <a:off x="40209" y="2912542"/>
        <a:ext cx="8230462" cy="743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1AB5-3A27-302B-9697-158DF657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3328D-715A-9405-9809-A931DB998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E7D16-56A0-21D9-B464-3BD52A90D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867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2DDE-6000-CB27-7595-E7FA845D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73793-262D-C543-47AF-EB5982E41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3FEC4-0920-A2C0-3760-FE4FC7D62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749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F5DD-4FA2-C97F-016B-A616CC59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84619-10FA-DDC1-3DAC-BDD14A98D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BEF96-2127-D96A-0CAF-F3E11239B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070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39F1-4965-6350-43FB-11FDFA13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6CA83-30C4-6C67-D58F-979D8D98F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75098-6924-E354-EB5D-5E5CA9398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81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3DA6-2C38-DEB8-625B-5F76F81A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76E3C-7374-2F89-9401-CAFDD3FD3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EA0B8-D4F6-02C0-39D4-7CAA59962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626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B3D9-AEAF-E9A9-86CB-720ECBDF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1EEAB-F7E5-93E6-F355-6C9F99D5F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D08D0-9828-AE19-8838-1D265FA43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041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transition spd="slow">
    <p:push dir="u"/>
  </p:transition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8988" y="5657064"/>
            <a:ext cx="5074024" cy="468322"/>
          </a:xfrm>
        </p:spPr>
        <p:txBody>
          <a:bodyPr anchor="ctr"/>
          <a:lstStyle/>
          <a:p>
            <a:r>
              <a:rPr lang="hr-HR" sz="1800" cap="none" noProof="0" dirty="0">
                <a:solidFill>
                  <a:srgbClr val="FDFBF6"/>
                </a:solidFill>
                <a:latin typeface="+mn-lt"/>
              </a:rPr>
              <a:t>Tim: TG 15.4 </a:t>
            </a:r>
            <a:r>
              <a:rPr lang="hr-HR" sz="1800" cap="none" noProof="0" dirty="0" err="1">
                <a:solidFill>
                  <a:srgbClr val="FDFBF6"/>
                </a:solidFill>
                <a:latin typeface="+mn-lt"/>
              </a:rPr>
              <a:t>BreakoutSystems</a:t>
            </a:r>
            <a:endParaRPr lang="hr-HR" sz="1800" cap="none" noProof="0" dirty="0">
              <a:solidFill>
                <a:srgbClr val="FDFBF6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A460A7-376F-422C-2170-F30959FFA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414" y="206807"/>
            <a:ext cx="1694586" cy="10565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E3E09B-32B1-7B91-89F9-E9FFE0713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212" y="335219"/>
            <a:ext cx="763246" cy="7632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80C9528-D214-8580-5CA3-4181AB1F5417}"/>
              </a:ext>
            </a:extLst>
          </p:cNvPr>
          <p:cNvSpPr txBox="1">
            <a:spLocks/>
          </p:cNvSpPr>
          <p:nvPr/>
        </p:nvSpPr>
        <p:spPr>
          <a:xfrm>
            <a:off x="10094259" y="1226877"/>
            <a:ext cx="1694586" cy="1395202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hr-HR" sz="1800" cap="none" noProof="0" dirty="0">
                <a:solidFill>
                  <a:schemeClr val="tx1"/>
                </a:solidFill>
                <a:latin typeface="+mn-lt"/>
              </a:rPr>
              <a:t>Programsko inženjerstvo ID 183400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B5431A-AE6D-F85F-655A-50F04C2FB8C5}"/>
              </a:ext>
            </a:extLst>
          </p:cNvPr>
          <p:cNvSpPr txBox="1">
            <a:spLocks/>
          </p:cNvSpPr>
          <p:nvPr/>
        </p:nvSpPr>
        <p:spPr>
          <a:xfrm>
            <a:off x="3558988" y="6051177"/>
            <a:ext cx="5074024" cy="468322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1600" cap="none" noProof="0" dirty="0">
                <a:solidFill>
                  <a:srgbClr val="FDFBF6"/>
                </a:solidFill>
                <a:latin typeface="+mn-lt"/>
              </a:rPr>
              <a:t>Ak. god. 2025./2026.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6BF2E8-3378-2576-5936-D5FD8FB09B63}"/>
              </a:ext>
            </a:extLst>
          </p:cNvPr>
          <p:cNvSpPr txBox="1">
            <a:spLocks/>
          </p:cNvSpPr>
          <p:nvPr/>
        </p:nvSpPr>
        <p:spPr>
          <a:xfrm>
            <a:off x="3550152" y="311850"/>
            <a:ext cx="5074024" cy="468322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2400" cap="none" noProof="0" dirty="0">
                <a:solidFill>
                  <a:schemeClr val="tx1"/>
                </a:solidFill>
                <a:latin typeface="+mn-lt"/>
              </a:rPr>
              <a:t>PREZENTACIJA PROJEKTA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953A53-A8DF-BDFB-8CD6-9601D5D08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449" y="335219"/>
            <a:ext cx="4951101" cy="495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34759"/>
            <a:ext cx="6583680" cy="1531357"/>
          </a:xfrm>
        </p:spPr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12125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hr-HR" noProof="0" dirty="0"/>
              <a:t>Opis zadatka i cilj projekta</a:t>
            </a:r>
          </a:p>
          <a:p>
            <a:r>
              <a:rPr lang="hr-HR" noProof="0" dirty="0"/>
              <a:t>Članovi tima i organizacija rada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Arhitektura i ispitivanje sustava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Zaključak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2</a:t>
            </a:fld>
            <a:endParaRPr lang="hr-HR" noProof="0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1303D6ED-2A07-574A-D264-153AB380C88E}"/>
              </a:ext>
            </a:extLst>
          </p:cNvPr>
          <p:cNvSpPr txBox="1">
            <a:spLocks/>
          </p:cNvSpPr>
          <p:nvPr/>
        </p:nvSpPr>
        <p:spPr>
          <a:xfrm>
            <a:off x="10358437" y="221454"/>
            <a:ext cx="1067589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hr-HR" noProof="0" smtClean="0">
                <a:solidFill>
                  <a:schemeClr val="bg1"/>
                </a:solidFill>
              </a:rPr>
              <a:pPr/>
              <a:t>2</a:t>
            </a:fld>
            <a:endParaRPr lang="hr-H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hr-HR" noProof="0" dirty="0"/>
              <a:t>OPIS ZADATKA I CILJ PROJEKTA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415769"/>
            <a:ext cx="7965460" cy="3497698"/>
          </a:xfrm>
        </p:spPr>
        <p:txBody>
          <a:bodyPr>
            <a:normAutofit/>
          </a:bodyPr>
          <a:lstStyle/>
          <a:p>
            <a:r>
              <a:rPr lang="hr-HR" sz="2000" b="1" noProof="0" dirty="0"/>
              <a:t>motivacija</a:t>
            </a:r>
            <a:r>
              <a:rPr lang="hr-HR" sz="2000" noProof="0" dirty="0"/>
              <a:t> – nedostatak cjelovitog sustava, natjecanja i rangiranja</a:t>
            </a:r>
          </a:p>
          <a:p>
            <a:r>
              <a:rPr lang="hr-HR" sz="2000" b="1" noProof="0" dirty="0"/>
              <a:t>cilj</a:t>
            </a:r>
            <a:r>
              <a:rPr lang="hr-HR" sz="2000" noProof="0" dirty="0"/>
              <a:t> – platforma koja povezuje sve </a:t>
            </a:r>
            <a:r>
              <a:rPr lang="hr-HR" sz="2000" noProof="0" dirty="0" err="1"/>
              <a:t>Escape</a:t>
            </a:r>
            <a:r>
              <a:rPr lang="hr-HR" sz="2000" noProof="0" dirty="0"/>
              <a:t> </a:t>
            </a:r>
            <a:r>
              <a:rPr lang="hr-HR" sz="2000" noProof="0" dirty="0" err="1"/>
              <a:t>Roomove</a:t>
            </a:r>
            <a:r>
              <a:rPr lang="hr-HR" sz="2000" noProof="0" dirty="0"/>
              <a:t>, timove i organizatore</a:t>
            </a:r>
          </a:p>
          <a:p>
            <a:pPr marL="0" indent="0">
              <a:buNone/>
            </a:pPr>
            <a:endParaRPr lang="hr-HR" sz="2000" noProof="0" dirty="0"/>
          </a:p>
          <a:p>
            <a:r>
              <a:rPr lang="hr-HR" sz="2000" b="1" noProof="0" dirty="0"/>
              <a:t>slična rješenja</a:t>
            </a:r>
            <a:r>
              <a:rPr lang="hr-HR" sz="2000" noProof="0" dirty="0"/>
              <a:t>: </a:t>
            </a:r>
            <a:r>
              <a:rPr lang="hr-HR" sz="2000" noProof="0" dirty="0" err="1"/>
              <a:t>Bookeo</a:t>
            </a:r>
            <a:r>
              <a:rPr lang="hr-HR" sz="2000" noProof="0" dirty="0"/>
              <a:t>, </a:t>
            </a:r>
            <a:r>
              <a:rPr lang="hr-HR" sz="2000" noProof="0" dirty="0" err="1"/>
              <a:t>Resova</a:t>
            </a:r>
            <a:endParaRPr lang="hr-HR" sz="2000" noProof="0" dirty="0"/>
          </a:p>
          <a:p>
            <a:r>
              <a:rPr lang="hr-HR" sz="2000" b="1" noProof="0" dirty="0"/>
              <a:t>naša prednost </a:t>
            </a:r>
            <a:r>
              <a:rPr lang="hr-HR" sz="2000" noProof="0" dirty="0"/>
              <a:t>– sve na jednom mjestu, sustav natjecanja</a:t>
            </a:r>
          </a:p>
          <a:p>
            <a:endParaRPr lang="hr-HR" sz="2000" noProof="0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292F650C-8138-47E3-65BA-22701DB969AC}"/>
              </a:ext>
            </a:extLst>
          </p:cNvPr>
          <p:cNvSpPr txBox="1">
            <a:spLocks/>
          </p:cNvSpPr>
          <p:nvPr/>
        </p:nvSpPr>
        <p:spPr>
          <a:xfrm>
            <a:off x="10358437" y="221454"/>
            <a:ext cx="1067589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hr-HR" noProof="0" smtClean="0">
                <a:solidFill>
                  <a:srgbClr val="202C8F"/>
                </a:solidFill>
              </a:rPr>
              <a:pPr/>
              <a:t>3</a:t>
            </a:fld>
            <a:endParaRPr lang="hr-HR" noProof="0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0EC35-ECC3-535F-1002-F4B5E26C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6AE6-4D57-C7C0-9924-45959518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92381"/>
            <a:ext cx="10511627" cy="1012785"/>
          </a:xfrm>
        </p:spPr>
        <p:txBody>
          <a:bodyPr/>
          <a:lstStyle/>
          <a:p>
            <a:r>
              <a:rPr lang="hr-HR" noProof="0" dirty="0"/>
              <a:t>ČLANOVI TIMA I ORGANIZACIJA RADA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8DCCF3-204F-52EF-E400-0ED43E6BCBB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134454431"/>
              </p:ext>
            </p:extLst>
          </p:nvPr>
        </p:nvGraphicFramePr>
        <p:xfrm>
          <a:off x="4652683" y="2045122"/>
          <a:ext cx="6791274" cy="456089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84003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107271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574590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Ime I prezime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Doprinos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718429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Hana </a:t>
                      </a:r>
                      <a:r>
                        <a:rPr lang="hr-HR" sz="1800" noProof="0" dirty="0" err="1"/>
                        <a:t>Dolovčak</a:t>
                      </a:r>
                      <a:endParaRPr lang="hr-HR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Baza podataka, dokumentacija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708212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Antonio Mamić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Voditelj, </a:t>
                      </a:r>
                      <a:r>
                        <a:rPr lang="hr-HR" sz="18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DevOps</a:t>
                      </a:r>
                      <a:r>
                        <a:rPr lang="hr-HR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r-HR" sz="18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endParaRPr lang="hr-HR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26681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Aurora Necko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Dizajn, </a:t>
                      </a:r>
                      <a:r>
                        <a:rPr lang="hr-HR" sz="1800" b="0" i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</a:t>
                      </a:r>
                      <a:endParaRPr lang="hr-HR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61691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Bruno </a:t>
                      </a:r>
                      <a:r>
                        <a:rPr lang="hr-HR" sz="1800" noProof="0" dirty="0" err="1"/>
                        <a:t>Pećnik</a:t>
                      </a:r>
                      <a:endParaRPr lang="hr-HR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noProof="0" dirty="0" err="1"/>
                        <a:t>Frontend</a:t>
                      </a:r>
                      <a:r>
                        <a:rPr lang="hr-HR" sz="1800" noProof="0" dirty="0"/>
                        <a:t>, dokumentacija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96701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Lucija Stipetić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noProof="0" dirty="0" err="1"/>
                        <a:t>Backend</a:t>
                      </a:r>
                      <a:endParaRPr lang="hr-HR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  <a:tr h="574590">
                <a:tc>
                  <a:txBody>
                    <a:bodyPr/>
                    <a:lstStyle/>
                    <a:p>
                      <a:r>
                        <a:rPr lang="hr-HR" sz="1800" noProof="0" dirty="0"/>
                        <a:t>Filip Šušak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hr-HR" sz="1800" noProof="0" dirty="0" err="1"/>
                        <a:t>Backend</a:t>
                      </a:r>
                      <a:endParaRPr lang="hr-HR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512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37926-591E-931B-262E-E750A1A9E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76367" y="493059"/>
            <a:ext cx="1067589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4</a:t>
            </a:fld>
            <a:endParaRPr lang="hr-HR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CAFDA8-BA70-4874-F529-D9778527635F}"/>
              </a:ext>
            </a:extLst>
          </p:cNvPr>
          <p:cNvSpPr txBox="1">
            <a:spLocks/>
          </p:cNvSpPr>
          <p:nvPr/>
        </p:nvSpPr>
        <p:spPr>
          <a:xfrm>
            <a:off x="1218602" y="2047224"/>
            <a:ext cx="3434081" cy="3497698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b="1" noProof="0" dirty="0"/>
              <a:t>komunikacija</a:t>
            </a:r>
            <a:r>
              <a:rPr lang="hr-HR" sz="2000" noProof="0" dirty="0"/>
              <a:t> – WhatsApp grupa, Microsoft </a:t>
            </a:r>
            <a:r>
              <a:rPr lang="hr-HR" sz="2000" noProof="0" dirty="0" err="1"/>
              <a:t>Teams</a:t>
            </a:r>
            <a:r>
              <a:rPr lang="hr-HR" sz="2000" noProof="0" dirty="0"/>
              <a:t>, </a:t>
            </a:r>
            <a:r>
              <a:rPr lang="hr-HR" sz="2000" noProof="0" dirty="0" err="1"/>
              <a:t>GitHub</a:t>
            </a:r>
            <a:r>
              <a:rPr lang="hr-HR" sz="2000" noProof="0" dirty="0"/>
              <a:t> </a:t>
            </a:r>
            <a:r>
              <a:rPr lang="hr-HR" sz="2000" noProof="0" dirty="0" err="1"/>
              <a:t>issues</a:t>
            </a:r>
            <a:r>
              <a:rPr lang="hr-HR" sz="2000" noProof="0" dirty="0"/>
              <a:t>, rad uživo</a:t>
            </a:r>
          </a:p>
          <a:p>
            <a:r>
              <a:rPr lang="hr-HR" sz="2000" b="1" noProof="0" dirty="0"/>
              <a:t>iterativni model </a:t>
            </a:r>
            <a:r>
              <a:rPr lang="hr-HR" sz="2000" noProof="0" dirty="0"/>
              <a:t>životnog ciklusa</a:t>
            </a:r>
          </a:p>
        </p:txBody>
      </p:sp>
    </p:spTree>
    <p:extLst>
      <p:ext uri="{BB962C8B-B14F-4D97-AF65-F5344CB8AC3E}">
        <p14:creationId xmlns:p14="http://schemas.microsoft.com/office/powerpoint/2010/main" val="24413647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FAFF-C45B-2AAF-E529-157FFBFF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717CCE-0728-2FCA-4B3D-5CB95D7F0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76367" y="493059"/>
            <a:ext cx="1067589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5</a:t>
            </a:fld>
            <a:endParaRPr lang="hr-H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09EC2B-FE8A-AECA-44E7-AF7BCA40A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83" t="7189" r="4823" b="6144"/>
          <a:stretch>
            <a:fillRect/>
          </a:stretch>
        </p:blipFill>
        <p:spPr>
          <a:xfrm>
            <a:off x="2130222" y="582706"/>
            <a:ext cx="7931556" cy="617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2047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144700579"/>
              </p:ext>
            </p:extLst>
          </p:nvPr>
        </p:nvGraphicFramePr>
        <p:xfrm>
          <a:off x="457199" y="1147428"/>
          <a:ext cx="11267440" cy="53089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59973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2240908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  <a:gridCol w="1412240">
                  <a:extLst>
                    <a:ext uri="{9D8B030D-6E8A-4147-A177-3AD203B41FA5}">
                      <a16:colId xmlns:a16="http://schemas.microsoft.com/office/drawing/2014/main" val="3282740792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161033367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744761655"/>
                    </a:ext>
                  </a:extLst>
                </a:gridCol>
                <a:gridCol w="1247907">
                  <a:extLst>
                    <a:ext uri="{9D8B030D-6E8A-4147-A177-3AD203B41FA5}">
                      <a16:colId xmlns:a16="http://schemas.microsoft.com/office/drawing/2014/main" val="1320142141"/>
                    </a:ext>
                  </a:extLst>
                </a:gridCol>
                <a:gridCol w="1464812">
                  <a:extLst>
                    <a:ext uri="{9D8B030D-6E8A-4147-A177-3AD203B41FA5}">
                      <a16:colId xmlns:a16="http://schemas.microsoft.com/office/drawing/2014/main" val="1556335802"/>
                    </a:ext>
                  </a:extLst>
                </a:gridCol>
              </a:tblGrid>
              <a:tr h="769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Član tima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Dokumentacija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 err="1">
                          <a:effectLst/>
                        </a:rPr>
                        <a:t>Backend</a:t>
                      </a:r>
                      <a:endParaRPr lang="hr-HR" sz="2000" b="1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 err="1">
                          <a:effectLst/>
                        </a:rPr>
                        <a:t>Frontend</a:t>
                      </a:r>
                      <a:endParaRPr lang="hr-HR" sz="2000" b="1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Dizajn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Ostalo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Ukupno</a:t>
                      </a: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769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Hana </a:t>
                      </a:r>
                      <a:r>
                        <a:rPr lang="hr-HR" sz="2000" b="1" noProof="0" dirty="0" err="1">
                          <a:effectLst/>
                        </a:rPr>
                        <a:t>Dolovčak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92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94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769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Antonio Mamić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16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3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109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5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133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750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Aurora Necko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90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21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113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750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Bruno </a:t>
                      </a:r>
                      <a:r>
                        <a:rPr lang="hr-HR" sz="2000" b="1" noProof="0" dirty="0" err="1">
                          <a:effectLst/>
                        </a:rPr>
                        <a:t>Pećnik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27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28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57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750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Lucija Stipetić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5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71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78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  <a:tr h="750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Filip Šušak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54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0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noProof="0" dirty="0">
                          <a:effectLst/>
                        </a:rPr>
                        <a:t>2</a:t>
                      </a: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2000" b="1" noProof="0" dirty="0">
                          <a:effectLst/>
                        </a:rPr>
                        <a:t>56</a:t>
                      </a:r>
                      <a:endParaRPr lang="hr-HR" sz="2000" noProof="0" dirty="0">
                        <a:effectLst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428092512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76367" y="493059"/>
            <a:ext cx="1067589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6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692943"/>
            <a:ext cx="9879437" cy="980844"/>
          </a:xfrm>
        </p:spPr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7</a:t>
            </a:fld>
            <a:endParaRPr lang="hr-HR" noProof="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3D737EC-EB4D-1BEA-B1D3-5704A0C065EC}"/>
              </a:ext>
            </a:extLst>
          </p:cNvPr>
          <p:cNvSpPr txBox="1">
            <a:spLocks/>
          </p:cNvSpPr>
          <p:nvPr/>
        </p:nvSpPr>
        <p:spPr>
          <a:xfrm>
            <a:off x="1546589" y="1743954"/>
            <a:ext cx="5795506" cy="58372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2400" cap="none" noProof="0" dirty="0"/>
              <a:t>Glavni funkcionalni zahtjevi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C05E3BD-C2F3-DC38-CBD0-B955380947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0904096"/>
              </p:ext>
            </p:extLst>
          </p:nvPr>
        </p:nvGraphicFramePr>
        <p:xfrm>
          <a:off x="1546589" y="2671749"/>
          <a:ext cx="8310880" cy="3717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9A49-3AC9-06AC-D470-64F030F4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36FF1C-1B24-2D9F-2917-EE12CA2A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692943"/>
            <a:ext cx="9879437" cy="980844"/>
          </a:xfrm>
        </p:spPr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83751-5D4D-5AE8-72C4-F0D730076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8</a:t>
            </a:fld>
            <a:endParaRPr lang="hr-HR" noProof="0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30DDA4E-6EE6-0AB7-3390-E63E0E53726A}"/>
              </a:ext>
            </a:extLst>
          </p:cNvPr>
          <p:cNvSpPr txBox="1">
            <a:spLocks/>
          </p:cNvSpPr>
          <p:nvPr/>
        </p:nvSpPr>
        <p:spPr>
          <a:xfrm>
            <a:off x="1546588" y="1743954"/>
            <a:ext cx="9022799" cy="58372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2400" cap="none" noProof="0" dirty="0"/>
              <a:t>Nefunkcionalni zahtjevi i zahtjevi domene primjene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CFD6754-5CDA-D2E7-05CB-780351094C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547159"/>
              </p:ext>
            </p:extLst>
          </p:nvPr>
        </p:nvGraphicFramePr>
        <p:xfrm>
          <a:off x="1546589" y="2671749"/>
          <a:ext cx="8310880" cy="3717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864572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5A5FF2-8424-7F9F-3A69-AA507116A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84" y="0"/>
            <a:ext cx="9305916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106749-C90F-3301-CA81-BEB564DB29D5}"/>
              </a:ext>
            </a:extLst>
          </p:cNvPr>
          <p:cNvSpPr/>
          <p:nvPr/>
        </p:nvSpPr>
        <p:spPr>
          <a:xfrm>
            <a:off x="-80684" y="3353491"/>
            <a:ext cx="2966767" cy="3504509"/>
          </a:xfrm>
          <a:prstGeom prst="rect">
            <a:avLst/>
          </a:prstGeom>
          <a:solidFill>
            <a:srgbClr val="FDFBF6"/>
          </a:solidFill>
          <a:ln>
            <a:solidFill>
              <a:srgbClr val="FDFB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44" y="1882934"/>
            <a:ext cx="2607840" cy="3092132"/>
          </a:xfrm>
        </p:spPr>
        <p:txBody>
          <a:bodyPr/>
          <a:lstStyle/>
          <a:p>
            <a:r>
              <a:rPr lang="hr-HR" sz="2400" cap="none" noProof="0" dirty="0" err="1"/>
              <a:t>Visokorazinski</a:t>
            </a:r>
            <a:r>
              <a:rPr lang="hr-HR" sz="2400" cap="none" noProof="0" dirty="0"/>
              <a:t> dijagram obrazaca uporabe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64D5A26-2AC1-A099-3313-BB7C6B0D7415}"/>
              </a:ext>
            </a:extLst>
          </p:cNvPr>
          <p:cNvSpPr txBox="1">
            <a:spLocks/>
          </p:cNvSpPr>
          <p:nvPr/>
        </p:nvSpPr>
        <p:spPr>
          <a:xfrm>
            <a:off x="1068116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hr-HR" noProof="0" smtClean="0">
                <a:solidFill>
                  <a:srgbClr val="202C8F"/>
                </a:solidFill>
              </a:rPr>
              <a:pPr algn="r"/>
              <a:t>9</a:t>
            </a:fld>
            <a:endParaRPr lang="hr-HR" noProof="0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15FC-67C7-62FC-7931-9F9CDF2A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1213-3933-F1F8-4CFA-563DA8B5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103" y="543523"/>
            <a:ext cx="7066090" cy="839357"/>
          </a:xfrm>
        </p:spPr>
        <p:txBody>
          <a:bodyPr/>
          <a:lstStyle/>
          <a:p>
            <a:r>
              <a:rPr lang="hr-HR" sz="2400" cap="none" noProof="0" dirty="0"/>
              <a:t>Sekvencijski dijagram za ključne procese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22389337-0430-4A3C-E290-EA0CBBE3F006}"/>
              </a:ext>
            </a:extLst>
          </p:cNvPr>
          <p:cNvSpPr txBox="1">
            <a:spLocks/>
          </p:cNvSpPr>
          <p:nvPr/>
        </p:nvSpPr>
        <p:spPr>
          <a:xfrm>
            <a:off x="1068116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hr-HR" noProof="0" smtClean="0">
                <a:solidFill>
                  <a:srgbClr val="202C8F"/>
                </a:solidFill>
              </a:rPr>
              <a:pPr algn="r"/>
              <a:t>10</a:t>
            </a:fld>
            <a:endParaRPr lang="hr-HR" noProof="0" dirty="0">
              <a:solidFill>
                <a:srgbClr val="202C8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7168E8-228E-AADA-DBCC-6C5AF4C8B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177" y="1475198"/>
            <a:ext cx="4459941" cy="445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1105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821868"/>
            <a:ext cx="9875463" cy="999746"/>
          </a:xfrm>
        </p:spPr>
        <p:txBody>
          <a:bodyPr/>
          <a:lstStyle/>
          <a:p>
            <a:r>
              <a:rPr lang="hr-HR" noProof="0" dirty="0"/>
              <a:t>Arhitektura sustava I ispitivanje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074540"/>
            <a:ext cx="5829147" cy="1709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000" noProof="0" dirty="0"/>
              <a:t>Arhitektura </a:t>
            </a:r>
            <a:r>
              <a:rPr lang="hr-HR" sz="2000" b="1" noProof="0" dirty="0"/>
              <a:t>klijent-poslužitelj</a:t>
            </a:r>
          </a:p>
          <a:p>
            <a:pPr marL="457200" indent="-457200">
              <a:buAutoNum type="arabicPeriod"/>
            </a:pPr>
            <a:r>
              <a:rPr lang="hr-HR" sz="2000" noProof="0" dirty="0"/>
              <a:t>baza podataka (</a:t>
            </a:r>
            <a:r>
              <a:rPr lang="hr-HR" sz="2000" noProof="0" dirty="0" err="1"/>
              <a:t>SQLite</a:t>
            </a:r>
            <a:r>
              <a:rPr lang="hr-HR" sz="2000" noProof="0" dirty="0"/>
              <a:t>)</a:t>
            </a:r>
          </a:p>
          <a:p>
            <a:pPr marL="457200" indent="-457200">
              <a:buAutoNum type="arabicPeriod"/>
            </a:pPr>
            <a:r>
              <a:rPr lang="hr-HR" sz="2000" noProof="0" dirty="0"/>
              <a:t>aplikacijski </a:t>
            </a:r>
            <a:r>
              <a:rPr lang="hr-HR" sz="2000" noProof="0" dirty="0" err="1"/>
              <a:t>frontend</a:t>
            </a:r>
            <a:r>
              <a:rPr lang="hr-HR" sz="2000" noProof="0" dirty="0"/>
              <a:t> (</a:t>
            </a:r>
            <a:r>
              <a:rPr lang="hr-HR" sz="2000" noProof="0" dirty="0" err="1"/>
              <a:t>React</a:t>
            </a:r>
            <a:r>
              <a:rPr lang="hr-HR" sz="2000" noProof="0" dirty="0"/>
              <a:t>)</a:t>
            </a:r>
          </a:p>
          <a:p>
            <a:pPr marL="457200" indent="-457200">
              <a:buAutoNum type="arabicPeriod"/>
            </a:pPr>
            <a:r>
              <a:rPr lang="hr-HR" sz="2000" noProof="0" dirty="0"/>
              <a:t>aplikacijski </a:t>
            </a:r>
            <a:r>
              <a:rPr lang="hr-HR" sz="2000" noProof="0" dirty="0" err="1"/>
              <a:t>backend</a:t>
            </a:r>
            <a:r>
              <a:rPr lang="hr-HR" sz="2000" noProof="0" dirty="0"/>
              <a:t> (Python)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62853" y="2074540"/>
            <a:ext cx="5504027" cy="2263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000" noProof="0" dirty="0"/>
              <a:t>Ispitivanje komponenti i sustava</a:t>
            </a:r>
          </a:p>
          <a:p>
            <a:r>
              <a:rPr lang="hr-HR" sz="2000" noProof="0" dirty="0" err="1"/>
              <a:t>Pytest</a:t>
            </a:r>
            <a:r>
              <a:rPr lang="hr-HR" sz="2000" noProof="0" dirty="0"/>
              <a:t> sučelje, simulacija HTTP zahtjeva, izolacija testova</a:t>
            </a:r>
          </a:p>
          <a:p>
            <a:r>
              <a:rPr lang="hr-HR" sz="2000" b="1" noProof="0" dirty="0"/>
              <a:t>fokus</a:t>
            </a:r>
            <a:r>
              <a:rPr lang="hr-HR" sz="2000" noProof="0" dirty="0"/>
              <a:t> – funkcionalnost, rubni slučajevi</a:t>
            </a:r>
          </a:p>
          <a:p>
            <a:r>
              <a:rPr lang="hr-HR" sz="2000" b="1" noProof="0" dirty="0"/>
              <a:t>57/57</a:t>
            </a:r>
            <a:r>
              <a:rPr lang="hr-HR" sz="2000" noProof="0" dirty="0"/>
              <a:t> testova uspješno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34311" y="528918"/>
            <a:ext cx="987552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11</a:t>
            </a:fld>
            <a:endParaRPr lang="hr-H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7CFF4-FC90-8DE8-E7C9-5CAE0C8C5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64" y="4265602"/>
            <a:ext cx="9875463" cy="259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58C1-B9FA-C4EB-4197-46AC3797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8B8C97-BDCE-6B64-6959-68043ACCC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07"/>
            <a:ext cx="12194719" cy="67350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6A7539-8202-1009-E9F8-DA18B281B674}"/>
              </a:ext>
            </a:extLst>
          </p:cNvPr>
          <p:cNvSpPr/>
          <p:nvPr/>
        </p:nvSpPr>
        <p:spPr>
          <a:xfrm>
            <a:off x="5710517" y="-138608"/>
            <a:ext cx="6598024" cy="277215"/>
          </a:xfrm>
          <a:prstGeom prst="rect">
            <a:avLst/>
          </a:prstGeom>
          <a:solidFill>
            <a:schemeClr val="bg1"/>
          </a:solidFill>
          <a:ln>
            <a:solidFill>
              <a:srgbClr val="FDFB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C7D83-41B6-C729-177D-6366B292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26" y="688461"/>
            <a:ext cx="3773803" cy="610095"/>
          </a:xfrm>
        </p:spPr>
        <p:txBody>
          <a:bodyPr/>
          <a:lstStyle/>
          <a:p>
            <a:r>
              <a:rPr lang="hr-HR" sz="2400" cap="none" noProof="0" dirty="0"/>
              <a:t>Dijagram razmještaja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6269067-15D2-1967-2B6C-3F0F4A882368}"/>
              </a:ext>
            </a:extLst>
          </p:cNvPr>
          <p:cNvSpPr txBox="1">
            <a:spLocks/>
          </p:cNvSpPr>
          <p:nvPr/>
        </p:nvSpPr>
        <p:spPr>
          <a:xfrm>
            <a:off x="1068116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hr-HR" noProof="0" smtClean="0">
                <a:solidFill>
                  <a:srgbClr val="202C8F"/>
                </a:solidFill>
              </a:rPr>
              <a:pPr algn="r"/>
              <a:t>12</a:t>
            </a:fld>
            <a:endParaRPr lang="hr-HR" noProof="0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85506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13</a:t>
            </a:fld>
            <a:endParaRPr lang="hr-HR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843331-087E-7572-1DFB-D882A36CE724}"/>
              </a:ext>
            </a:extLst>
          </p:cNvPr>
          <p:cNvSpPr txBox="1">
            <a:spLocks/>
          </p:cNvSpPr>
          <p:nvPr/>
        </p:nvSpPr>
        <p:spPr>
          <a:xfrm>
            <a:off x="4049848" y="692943"/>
            <a:ext cx="7879977" cy="122238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/>
              <a:t>KORIŠTENI ALATI I TEHNOLOGIJE</a:t>
            </a:r>
            <a:endParaRPr lang="hr-HR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1ABA0A5-4198-29A3-DC92-F3236ED0821E}"/>
              </a:ext>
            </a:extLst>
          </p:cNvPr>
          <p:cNvSpPr txBox="1">
            <a:spLocks/>
          </p:cNvSpPr>
          <p:nvPr/>
        </p:nvSpPr>
        <p:spPr>
          <a:xfrm>
            <a:off x="4049848" y="2376262"/>
            <a:ext cx="7965460" cy="4037693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hr-HR" sz="2000" b="1" dirty="0"/>
              <a:t>Razvojna okruženja</a:t>
            </a:r>
            <a:r>
              <a:rPr lang="hr-HR" sz="2000" dirty="0"/>
              <a:t>: </a:t>
            </a:r>
            <a:r>
              <a:rPr lang="hr-HR" sz="2000" dirty="0" err="1"/>
              <a:t>Visual</a:t>
            </a:r>
            <a:r>
              <a:rPr lang="hr-HR" sz="2000" dirty="0"/>
              <a:t> Studio </a:t>
            </a:r>
            <a:r>
              <a:rPr lang="hr-HR" sz="2000" dirty="0" err="1"/>
              <a:t>Code</a:t>
            </a:r>
            <a:r>
              <a:rPr lang="hr-HR" sz="2000" dirty="0"/>
              <a:t>, </a:t>
            </a:r>
            <a:r>
              <a:rPr lang="hr-HR" sz="2000" dirty="0" err="1"/>
              <a:t>PyCharm</a:t>
            </a:r>
            <a:r>
              <a:rPr lang="hr-HR" sz="2000" dirty="0"/>
              <a:t>, </a:t>
            </a:r>
            <a:r>
              <a:rPr lang="hr-HR" sz="2000" dirty="0" err="1"/>
              <a:t>Community</a:t>
            </a:r>
            <a:r>
              <a:rPr lang="hr-HR" sz="2000" dirty="0"/>
              <a:t>, </a:t>
            </a:r>
            <a:r>
              <a:rPr lang="hr-HR" sz="2000" dirty="0" err="1"/>
              <a:t>WebStorm</a:t>
            </a:r>
            <a:endParaRPr lang="hr-HR" sz="2000" dirty="0"/>
          </a:p>
          <a:p>
            <a:pPr>
              <a:lnSpc>
                <a:spcPct val="110000"/>
              </a:lnSpc>
            </a:pPr>
            <a:r>
              <a:rPr lang="hr-HR" sz="2000" b="1" dirty="0" err="1"/>
              <a:t>Frontend</a:t>
            </a:r>
            <a:r>
              <a:rPr lang="hr-HR" sz="2000" dirty="0"/>
              <a:t>: </a:t>
            </a:r>
            <a:r>
              <a:rPr lang="hr-HR" sz="2000" dirty="0" err="1"/>
              <a:t>React</a:t>
            </a:r>
            <a:r>
              <a:rPr lang="hr-HR" sz="2000" dirty="0"/>
              <a:t>, JavaScript</a:t>
            </a:r>
          </a:p>
          <a:p>
            <a:pPr>
              <a:lnSpc>
                <a:spcPct val="110000"/>
              </a:lnSpc>
            </a:pPr>
            <a:r>
              <a:rPr lang="hr-HR" sz="2000" b="1" dirty="0" err="1"/>
              <a:t>Backend</a:t>
            </a:r>
            <a:r>
              <a:rPr lang="hr-HR" sz="2000" dirty="0"/>
              <a:t>: Python, </a:t>
            </a:r>
            <a:r>
              <a:rPr lang="hr-HR" sz="2000" dirty="0" err="1"/>
              <a:t>Flask</a:t>
            </a:r>
            <a:endParaRPr lang="hr-HR" sz="2000" dirty="0"/>
          </a:p>
          <a:p>
            <a:pPr>
              <a:lnSpc>
                <a:spcPct val="110000"/>
              </a:lnSpc>
            </a:pPr>
            <a:r>
              <a:rPr lang="hr-HR" sz="2000" b="1" dirty="0"/>
              <a:t>Baza podataka</a:t>
            </a:r>
            <a:r>
              <a:rPr lang="hr-HR" sz="2000" dirty="0"/>
              <a:t>: </a:t>
            </a:r>
            <a:r>
              <a:rPr lang="hr-HR" sz="2000" dirty="0" err="1"/>
              <a:t>SQLite</a:t>
            </a:r>
            <a:endParaRPr lang="hr-HR" sz="2000" dirty="0"/>
          </a:p>
          <a:p>
            <a:pPr>
              <a:lnSpc>
                <a:spcPct val="110000"/>
              </a:lnSpc>
            </a:pPr>
            <a:r>
              <a:rPr lang="hr-HR" sz="2000" b="1" dirty="0"/>
              <a:t>Ispitivanje</a:t>
            </a:r>
            <a:r>
              <a:rPr lang="hr-HR" sz="2000" dirty="0"/>
              <a:t>: </a:t>
            </a:r>
            <a:r>
              <a:rPr lang="hr-HR" sz="2000" dirty="0" err="1"/>
              <a:t>pytest</a:t>
            </a:r>
            <a:r>
              <a:rPr lang="hr-HR" sz="2000" dirty="0"/>
              <a:t>, </a:t>
            </a:r>
            <a:r>
              <a:rPr lang="hr-HR" sz="2000" dirty="0" err="1"/>
              <a:t>Selenium</a:t>
            </a:r>
            <a:r>
              <a:rPr lang="hr-HR" sz="2000" dirty="0"/>
              <a:t>, </a:t>
            </a:r>
            <a:r>
              <a:rPr lang="hr-HR" sz="2000" dirty="0" err="1"/>
              <a:t>Flask</a:t>
            </a:r>
            <a:r>
              <a:rPr lang="hr-HR" sz="2000" dirty="0"/>
              <a:t> test </a:t>
            </a:r>
            <a:r>
              <a:rPr lang="hr-HR" sz="2000" dirty="0" err="1"/>
              <a:t>client</a:t>
            </a:r>
            <a:r>
              <a:rPr lang="hr-HR" sz="2000" dirty="0"/>
              <a:t>, </a:t>
            </a:r>
            <a:r>
              <a:rPr lang="hr-HR" sz="2000" dirty="0" err="1"/>
              <a:t>SQLite</a:t>
            </a:r>
            <a:r>
              <a:rPr lang="hr-HR" sz="2000" dirty="0"/>
              <a:t> </a:t>
            </a:r>
            <a:r>
              <a:rPr lang="hr-HR" sz="2000" dirty="0" err="1"/>
              <a:t>in-memory</a:t>
            </a:r>
            <a:r>
              <a:rPr lang="hr-HR" sz="2000" dirty="0"/>
              <a:t> baza</a:t>
            </a:r>
          </a:p>
          <a:p>
            <a:pPr>
              <a:lnSpc>
                <a:spcPct val="110000"/>
              </a:lnSpc>
            </a:pPr>
            <a:r>
              <a:rPr lang="hr-HR" sz="2000" b="1" dirty="0"/>
              <a:t>Dokumentacija</a:t>
            </a:r>
            <a:r>
              <a:rPr lang="hr-HR" sz="2000" dirty="0"/>
              <a:t>: </a:t>
            </a:r>
            <a:r>
              <a:rPr lang="hr-HR" sz="2000" dirty="0" err="1"/>
              <a:t>LaTeX</a:t>
            </a:r>
            <a:r>
              <a:rPr lang="hr-HR" sz="2000" dirty="0"/>
              <a:t>, </a:t>
            </a:r>
            <a:r>
              <a:rPr lang="hr-HR" sz="2000" dirty="0" err="1"/>
              <a:t>ERDPlus</a:t>
            </a:r>
            <a:r>
              <a:rPr lang="hr-HR" sz="2000" dirty="0"/>
              <a:t>, </a:t>
            </a:r>
            <a:r>
              <a:rPr lang="hr-HR" sz="2000" dirty="0" err="1"/>
              <a:t>Astah</a:t>
            </a:r>
            <a:r>
              <a:rPr lang="hr-HR" sz="2000" dirty="0"/>
              <a:t> UML</a:t>
            </a:r>
          </a:p>
          <a:p>
            <a:pPr>
              <a:lnSpc>
                <a:spcPct val="110000"/>
              </a:lnSpc>
            </a:pPr>
            <a:r>
              <a:rPr lang="hr-HR" sz="2000" b="1" dirty="0"/>
              <a:t>CI/CD i </a:t>
            </a:r>
            <a:r>
              <a:rPr lang="hr-HR" sz="2000" b="1" dirty="0" err="1"/>
              <a:t>deployment</a:t>
            </a:r>
            <a:r>
              <a:rPr lang="hr-HR" sz="2000" dirty="0"/>
              <a:t>: </a:t>
            </a:r>
            <a:r>
              <a:rPr lang="hr-HR" sz="2000" dirty="0" err="1"/>
              <a:t>GitHub</a:t>
            </a:r>
            <a:r>
              <a:rPr lang="hr-HR" sz="2000" dirty="0"/>
              <a:t> </a:t>
            </a:r>
            <a:r>
              <a:rPr lang="hr-HR" sz="2000" dirty="0" err="1"/>
              <a:t>Actions</a:t>
            </a:r>
            <a:r>
              <a:rPr lang="hr-HR" sz="2000" dirty="0"/>
              <a:t>, Azure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760842"/>
            <a:ext cx="5715000" cy="1336315"/>
          </a:xfrm>
        </p:spPr>
        <p:txBody>
          <a:bodyPr/>
          <a:lstStyle/>
          <a:p>
            <a:r>
              <a:rPr lang="hr-HR" sz="4000" noProof="0" dirty="0"/>
              <a:t>DEMONSTRACIJA APLIKACIJE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hr-HR" noProof="0" smtClean="0"/>
              <a:pPr/>
              <a:t>15</a:t>
            </a:fld>
            <a:endParaRPr lang="hr-HR" noProof="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2417B19-13DD-532B-E294-7C8E55E299C1}"/>
              </a:ext>
            </a:extLst>
          </p:cNvPr>
          <p:cNvSpPr txBox="1">
            <a:spLocks/>
          </p:cNvSpPr>
          <p:nvPr/>
        </p:nvSpPr>
        <p:spPr>
          <a:xfrm>
            <a:off x="10681167" y="466164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F63A3B-78C7-47BE-AE5E-E10140E04643}" type="slidenum">
              <a:rPr lang="hr-HR" noProof="0" smtClean="0">
                <a:solidFill>
                  <a:schemeClr val="bg1"/>
                </a:solidFill>
              </a:rPr>
              <a:pPr algn="r"/>
              <a:t>15</a:t>
            </a:fld>
            <a:endParaRPr lang="hr-HR" noProof="0" dirty="0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 txBox="1">
            <a:spLocks/>
          </p:cNvSpPr>
          <p:nvPr/>
        </p:nvSpPr>
        <p:spPr>
          <a:xfrm>
            <a:off x="914398" y="928688"/>
            <a:ext cx="7043617" cy="69982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/>
              <a:t>ZAKLJUČAK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DC365D-0658-718A-1B3C-810C12840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448" y="3612504"/>
            <a:ext cx="1105996" cy="110599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FB5EBBD-1D78-D6C1-AF9C-A6189C0569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448" y="2089920"/>
            <a:ext cx="1105996" cy="110599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4DEC844-6B01-E228-C33C-8FCF588E2E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9448" y="5135088"/>
            <a:ext cx="1105997" cy="1105997"/>
          </a:xfrm>
          <a:prstGeom prst="rect">
            <a:avLst/>
          </a:prstGeom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 txBox="1">
            <a:spLocks/>
          </p:cNvSpPr>
          <p:nvPr/>
        </p:nvSpPr>
        <p:spPr>
          <a:xfrm>
            <a:off x="2417382" y="2328827"/>
            <a:ext cx="5540631" cy="62818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000" dirty="0"/>
              <a:t>Rezultat, količina odrađenog posla, odabir tehnologija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0C010F6-7182-1EFE-514B-A5374BF7C70D}"/>
              </a:ext>
            </a:extLst>
          </p:cNvPr>
          <p:cNvSpPr txBox="1">
            <a:spLocks/>
          </p:cNvSpPr>
          <p:nvPr/>
        </p:nvSpPr>
        <p:spPr>
          <a:xfrm>
            <a:off x="2417381" y="3940989"/>
            <a:ext cx="5540631" cy="449025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000" dirty="0"/>
              <a:t>Komunikacija, kontinuitet rada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15E71D7E-5C52-4487-83AB-958357DCB102}"/>
              </a:ext>
            </a:extLst>
          </p:cNvPr>
          <p:cNvSpPr txBox="1">
            <a:spLocks/>
          </p:cNvSpPr>
          <p:nvPr/>
        </p:nvSpPr>
        <p:spPr>
          <a:xfrm>
            <a:off x="2417384" y="5463573"/>
            <a:ext cx="5540631" cy="449025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000" dirty="0"/>
              <a:t>Organizacija vremena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EBCB-E3FD-2F97-EAF1-F31BE19E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2C25-3674-4DDB-5913-CFB3DCF5D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3056821"/>
            <a:ext cx="5715000" cy="744357"/>
          </a:xfrm>
        </p:spPr>
        <p:txBody>
          <a:bodyPr/>
          <a:lstStyle/>
          <a:p>
            <a:r>
              <a:rPr lang="hr-HR" sz="4000" noProof="0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53586190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BreakoutSystems">
      <a:dk1>
        <a:srgbClr val="000000"/>
      </a:dk1>
      <a:lt1>
        <a:srgbClr val="FFFFFF"/>
      </a:lt1>
      <a:dk2>
        <a:srgbClr val="1F2C8F"/>
      </a:dk2>
      <a:lt2>
        <a:srgbClr val="C7CCF3"/>
      </a:lt2>
      <a:accent1>
        <a:srgbClr val="FBD511"/>
      </a:accent1>
      <a:accent2>
        <a:srgbClr val="F62095"/>
      </a:accent2>
      <a:accent3>
        <a:srgbClr val="C7CCF3"/>
      </a:accent3>
      <a:accent4>
        <a:srgbClr val="1F2C8F"/>
      </a:accent4>
      <a:accent5>
        <a:srgbClr val="1F2C8F"/>
      </a:accent5>
      <a:accent6>
        <a:srgbClr val="1F2C8F"/>
      </a:accent6>
      <a:hlink>
        <a:srgbClr val="1F2C8F"/>
      </a:hlink>
      <a:folHlink>
        <a:srgbClr val="C7CCF3"/>
      </a:folHlink>
    </a:clrScheme>
    <a:fontScheme name="BreakoutSystems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{399CD97A-A705-4ED7-B0E5-F0167E39575B}TF8a9b5915-b8c7-461e-8cdd-693d48b5e32371f7b7e2_win32-4bf0b9a2ea37</Template>
  <TotalTime>284</TotalTime>
  <Words>395</Words>
  <Application>Microsoft Office PowerPoint</Application>
  <PresentationFormat>Widescreen</PresentationFormat>
  <Paragraphs>137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Montserrat</vt:lpstr>
      <vt:lpstr>Custom</vt:lpstr>
      <vt:lpstr>Tim: TG 15.4 BreakoutSystems</vt:lpstr>
      <vt:lpstr>SADRŽAJ</vt:lpstr>
      <vt:lpstr>OPIS ZADATKA I CILJ PROJEKTA</vt:lpstr>
      <vt:lpstr>ČLANOVI TIMA I ORGANIZACIJA RADA</vt:lpstr>
      <vt:lpstr>PowerPoint Presentation</vt:lpstr>
      <vt:lpstr>PowerPoint Presentation</vt:lpstr>
      <vt:lpstr>PREGLED ZAHTJEVA</vt:lpstr>
      <vt:lpstr>PREGLED ZAHTJEVA</vt:lpstr>
      <vt:lpstr>Visokorazinski dijagram obrazaca uporabe</vt:lpstr>
      <vt:lpstr>Sekvencijski dijagram za ključne procese</vt:lpstr>
      <vt:lpstr>Arhitektura sustava I ispitivanje</vt:lpstr>
      <vt:lpstr>Dijagram razmještaja</vt:lpstr>
      <vt:lpstr>PowerPoint Presentation</vt:lpstr>
      <vt:lpstr>DEMONSTRACIJA APLIKACIJE</vt:lpstr>
      <vt:lpstr>PowerPoint Presentation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Aurora Necko</dc:creator>
  <cp:lastModifiedBy>Aurora Necko</cp:lastModifiedBy>
  <cp:revision>16</cp:revision>
  <dcterms:created xsi:type="dcterms:W3CDTF">2026-01-23T10:27:59Z</dcterms:created>
  <dcterms:modified xsi:type="dcterms:W3CDTF">2026-01-23T15:12:25Z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